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89" r:id="rId2"/>
    <p:sldId id="257" r:id="rId3"/>
    <p:sldId id="288" r:id="rId4"/>
    <p:sldId id="308" r:id="rId5"/>
    <p:sldId id="290" r:id="rId6"/>
    <p:sldId id="259" r:id="rId7"/>
    <p:sldId id="261" r:id="rId8"/>
    <p:sldId id="260" r:id="rId9"/>
    <p:sldId id="292" r:id="rId10"/>
    <p:sldId id="276" r:id="rId11"/>
    <p:sldId id="291" r:id="rId12"/>
    <p:sldId id="302" r:id="rId13"/>
    <p:sldId id="282" r:id="rId14"/>
    <p:sldId id="301" r:id="rId15"/>
    <p:sldId id="310" r:id="rId16"/>
    <p:sldId id="283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278" r:id="rId25"/>
    <p:sldId id="300" r:id="rId26"/>
    <p:sldId id="286" r:id="rId27"/>
    <p:sldId id="311" r:id="rId28"/>
    <p:sldId id="312" r:id="rId29"/>
    <p:sldId id="313" r:id="rId30"/>
    <p:sldId id="314" r:id="rId31"/>
    <p:sldId id="315" r:id="rId32"/>
    <p:sldId id="304" r:id="rId33"/>
    <p:sldId id="287" r:id="rId34"/>
    <p:sldId id="307" r:id="rId35"/>
  </p:sldIdLst>
  <p:sldSz cx="9144000" cy="5143500" type="screen16x9"/>
  <p:notesSz cx="6858000" cy="9144000"/>
  <p:embeddedFontLst>
    <p:embeddedFont>
      <p:font typeface="Myanmar Text" panose="020B0502040204020203" pitchFamily="34" charset="0"/>
      <p:regular r:id="rId37"/>
      <p:bold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PT Sans Narrow" panose="020B0506020203020204" pitchFamily="3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95D46"/>
    <a:srgbClr val="0B6E8B"/>
    <a:srgbClr val="4DB6AC"/>
    <a:srgbClr val="D41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3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96EBB396-7F01-A82C-9181-186803F7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32cba878_1_77:notes">
            <a:extLst>
              <a:ext uri="{FF2B5EF4-FFF2-40B4-BE49-F238E27FC236}">
                <a16:creationId xmlns:a16="http://schemas.microsoft.com/office/drawing/2014/main" id="{54A90AD1-E4EA-9358-12D1-3EDB59846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32cba878_1_77:notes">
            <a:extLst>
              <a:ext uri="{FF2B5EF4-FFF2-40B4-BE49-F238E27FC236}">
                <a16:creationId xmlns:a16="http://schemas.microsoft.com/office/drawing/2014/main" id="{ECB196D8-37FB-96EE-5E86-75A1F027A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01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32cba878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32cba878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32cba87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32cba87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491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32cba87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32cba87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76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32cba87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32cba87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282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32cba87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32cba87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32cba878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632cba878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32cba878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32cba878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32cba878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632cba878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655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994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348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93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566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92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2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09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505c2cf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6505c2cf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10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61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505c2cf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6505c2cf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4869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505c2cf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6505c2cf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091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505c2cf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6505c2cf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76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7C0A09B1-E020-1A51-659A-C1E9E634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1F960-5ED0-DA01-6ECD-73B4A04DD9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endParaRPr lang="en-GB" dirty="0"/>
          </a:p>
        </p:txBody>
      </p:sp>
      <p:pic>
        <p:nvPicPr>
          <p:cNvPr id="5" name="Picture 4" descr="A yellow bird with a candle in the middle of a blue circle&#10;&#10;AI-generated content may be incorrect.">
            <a:extLst>
              <a:ext uri="{FF2B5EF4-FFF2-40B4-BE49-F238E27FC236}">
                <a16:creationId xmlns:a16="http://schemas.microsoft.com/office/drawing/2014/main" id="{C5E7BF28-5D4A-773A-5E58-1FEDE1CA62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2674"/>
            <a:ext cx="1557867" cy="1547866"/>
          </a:xfrm>
          <a:prstGeom prst="flowChartConnector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E01503-9DB9-7E8D-D85D-19B70163F49B}"/>
              </a:ext>
            </a:extLst>
          </p:cNvPr>
          <p:cNvSpPr txBox="1"/>
          <p:nvPr/>
        </p:nvSpPr>
        <p:spPr>
          <a:xfrm>
            <a:off x="1168547" y="491767"/>
            <a:ext cx="7213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</a:t>
            </a:r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Thaton</a:t>
            </a:r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2025-2026 Academic </a:t>
            </a:r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endParaRPr lang="fr-FR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2C7FF-B721-2B28-F06B-9DEA0DF97013}"/>
              </a:ext>
            </a:extLst>
          </p:cNvPr>
          <p:cNvSpPr txBox="1"/>
          <p:nvPr/>
        </p:nvSpPr>
        <p:spPr>
          <a:xfrm>
            <a:off x="1117600" y="2010639"/>
            <a:ext cx="690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3000" b="1" dirty="0" err="1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MyanLitBot</a:t>
            </a:r>
            <a:r>
              <a:rPr lang="en-GB" sz="3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AI-Powered Literary Assistant for Myanmar Fiction”</a:t>
            </a:r>
            <a:endParaRPr lang="fr-FR" sz="3000" b="1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solidFill>
                <a:srgbClr val="0B6E8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69DFD-8DC3-EA9F-378B-352268099F5B}"/>
              </a:ext>
            </a:extLst>
          </p:cNvPr>
          <p:cNvSpPr txBox="1"/>
          <p:nvPr/>
        </p:nvSpPr>
        <p:spPr>
          <a:xfrm>
            <a:off x="6604000" y="3815645"/>
            <a:ext cx="2167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I</a:t>
            </a:r>
          </a:p>
          <a:p>
            <a:pPr algn="r"/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(</a:t>
            </a:r>
            <a:r>
              <a:rPr lang="en-US" sz="1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B.C.Sc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algn="r"/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- 5112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BC6A2-0EC5-32B5-FC7E-9B6F74195CF8}"/>
              </a:ext>
            </a:extLst>
          </p:cNvPr>
          <p:cNvSpPr txBox="1"/>
          <p:nvPr/>
        </p:nvSpPr>
        <p:spPr>
          <a:xfrm>
            <a:off x="372533" y="4123421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18.2.2026</a:t>
            </a:r>
          </a:p>
        </p:txBody>
      </p:sp>
    </p:spTree>
    <p:extLst>
      <p:ext uri="{BB962C8B-B14F-4D97-AF65-F5344CB8AC3E}">
        <p14:creationId xmlns:p14="http://schemas.microsoft.com/office/powerpoint/2010/main" val="66767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Aye </a:t>
            </a:r>
            <a:r>
              <a:rPr lang="en-GB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Aye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 San 			UCSTT(19-20)-024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Thet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Ngone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Phoo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UCSTT(19-20)-007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Shwe Yi San				UCSTT(19-20)-040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GB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Nandar</a:t>
            </a:r>
            <a:r>
              <a:rPr lang="en-GB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Lynn			UCSTT(19-20)-042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0B6342-884C-CDA2-1772-F0CE084D8B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069525"/>
            <a:ext cx="8520600" cy="3733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Burmese Novel Corpus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Tools &amp; Models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Evolution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MyanLitBot’s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&amp; Model Implementation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114300" lvl="0" indent="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sz="15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C054E-0AB5-34C6-FFC9-7B449A8CA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716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069525"/>
            <a:ext cx="8520600" cy="37904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Burmese language suffers from a lack of large, structured digital corpora, unlike English, which benefits from resources such as the NLTK Brown Corpus and Gutenberg Corpus.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scarcity significantly limits academic research, educational applications and  literary analysis in Burmese.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intelligent system for exploring Burmese novels efficiently, enabling rapid retrieval of contextually relevant passages.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semantic search with AI-driven literary interpretation, the system generates coherent, human-like analyses that remain faithful to the source text.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advances literary research, enhances educational resources and contributes to the preservation and accessibility of Burmese cultural heritage.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C054E-0AB5-34C6-FFC9-7B449A8CA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558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021797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AI-based system for explaining Burmese literary works. 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employs Retrieval-Augmented Generation (RAG) to combine retrieval and generation for accurate analysis. 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explanations are carefully aligned with the content of the novels. 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emphasizes descriptive, academic-style literary interpretation. 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support for computational research in low-resource Burmese language processing.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C054E-0AB5-34C6-FFC9-7B449A8CA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48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86CE0-5104-EAD4-7119-6E01E1E3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25"/>
            <a:ext cx="8520600" cy="3302700"/>
          </a:xfrm>
        </p:spPr>
        <p:txBody>
          <a:bodyPr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intuitive and robust platform for exploring and understanding Burmese literary works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precise retrieval of the most relevant story content, supporting detailed study and analysis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insightful, human-like literary interpretations that facilitate critical understanding of narratives, themes and characters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education and literary analysis in the Burmese language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potential of AI technologies in overcoming the challenges of low-resource language processing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88115-A3BD-74C0-9078-20C54F1D9A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25691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Burmese Novel Corpus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326D5-3C72-53FF-4E6B-CD9B64A09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pic>
        <p:nvPicPr>
          <p:cNvPr id="4100" name="Picture 4" descr="အမှတ်တရ – Pann Satt Lann Books">
            <a:extLst>
              <a:ext uri="{FF2B5EF4-FFF2-40B4-BE49-F238E27FC236}">
                <a16:creationId xmlns:a16="http://schemas.microsoft.com/office/drawing/2014/main" id="{190FAFF9-2495-8118-5649-F356B622D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458" y="1196713"/>
            <a:ext cx="2513579" cy="251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ပြုံး၍လည်းကန်တော့ခံတော်မူပါ ရယ်၍လည်းကန်တော့ခံတော်မူပါ – Pann Satt Lann Books">
            <a:extLst>
              <a:ext uri="{FF2B5EF4-FFF2-40B4-BE49-F238E27FC236}">
                <a16:creationId xmlns:a16="http://schemas.microsoft.com/office/drawing/2014/main" id="{D42A41DB-5B44-4B0F-5F35-0E6F7A301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881" y="1173785"/>
            <a:ext cx="2513578" cy="251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ဗိုလ်ချုပ်အောင်ဆန်း အတ္ထုပ္ပတ္တိ by ဗိုလ်ချုပ်အောင်ဆန်း | Goodreads">
            <a:extLst>
              <a:ext uri="{FF2B5EF4-FFF2-40B4-BE49-F238E27FC236}">
                <a16:creationId xmlns:a16="http://schemas.microsoft.com/office/drawing/2014/main" id="{41622B5C-75F4-1A28-D542-FC970CC13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661" y="1225732"/>
            <a:ext cx="1534678" cy="228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သူလိုလူ – Pann Satt Lann Books">
            <a:extLst>
              <a:ext uri="{FF2B5EF4-FFF2-40B4-BE49-F238E27FC236}">
                <a16:creationId xmlns:a16="http://schemas.microsoft.com/office/drawing/2014/main" id="{82BF1B5C-4FF0-4911-3569-39D62AD8B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681" y="1173785"/>
            <a:ext cx="2434836" cy="263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13AC43-BA30-F71E-CB88-31C3E5E0FF04}"/>
              </a:ext>
            </a:extLst>
          </p:cNvPr>
          <p:cNvSpPr txBox="1"/>
          <p:nvPr/>
        </p:nvSpPr>
        <p:spPr>
          <a:xfrm>
            <a:off x="195664" y="3751189"/>
            <a:ext cx="17691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Genre: Love / Romance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Total Chapters: 8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Word Count: 13152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Character Count: 133186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Token Count: </a:t>
            </a:r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~33297</a:t>
            </a:r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38715-DD6A-CDD6-ECB9-C365A8971DED}"/>
              </a:ext>
            </a:extLst>
          </p:cNvPr>
          <p:cNvSpPr txBox="1"/>
          <p:nvPr/>
        </p:nvSpPr>
        <p:spPr>
          <a:xfrm>
            <a:off x="1997614" y="3758505"/>
            <a:ext cx="17691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Genre: Love / Romance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Total Chapters: 21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Word Count: 42053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Character Count: 449925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Token Count: ~112481</a:t>
            </a:r>
          </a:p>
          <a:p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B4BB3-BF5C-2556-13DF-42BF60567985}"/>
              </a:ext>
            </a:extLst>
          </p:cNvPr>
          <p:cNvSpPr txBox="1"/>
          <p:nvPr/>
        </p:nvSpPr>
        <p:spPr>
          <a:xfrm>
            <a:off x="3890731" y="3751189"/>
            <a:ext cx="17691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Genre: Biography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Total Chapters: 42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Word Count: 37598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Character Count: 463129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Token Count: ~115782</a:t>
            </a:r>
          </a:p>
          <a:p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679DB-2F1B-7519-0D6D-8212CC90E258}"/>
              </a:ext>
            </a:extLst>
          </p:cNvPr>
          <p:cNvSpPr txBox="1"/>
          <p:nvPr/>
        </p:nvSpPr>
        <p:spPr>
          <a:xfrm>
            <a:off x="5608725" y="3758504"/>
            <a:ext cx="1977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Genre: Social Realism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Total Chapters: 14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Word Count: 18702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Character Count: 209449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Token Count: ~52362</a:t>
            </a:r>
          </a:p>
          <a:p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EF167-FFCE-A21B-6E6D-9CCCFCDD8E62}"/>
              </a:ext>
            </a:extLst>
          </p:cNvPr>
          <p:cNvSpPr txBox="1"/>
          <p:nvPr/>
        </p:nvSpPr>
        <p:spPr>
          <a:xfrm>
            <a:off x="7408157" y="3758504"/>
            <a:ext cx="1694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Genre: Biography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Total Chapters: 34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Word Count: 76100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Character Count:790886</a:t>
            </a:r>
          </a:p>
          <a:p>
            <a:r>
              <a:rPr lang="en-US" sz="12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Token Count: ~197722</a:t>
            </a:r>
          </a:p>
          <a:p>
            <a:endParaRPr lang="en-US" sz="12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E073E4-1E18-4101-2F30-0A5035EC8D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788" y="1224722"/>
            <a:ext cx="2434836" cy="24348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Tools &amp; Models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0728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 (Version 3.10.12)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Multilingual sentence embeddings (Version 2.2.0)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High-performance vector similarity search engine (Version 1.10.0)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Gemma-3-27B-IT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Instruction-Tuned Large Language Model (27B parameters)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Analytical Utilities (Version 1.6.1)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Web-based user interface (Version 5.23.3)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GPU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Model execution environment (Nov 2024 Release, Tesla T4)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817207-5444-B041-BC8F-033B4CC1EE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 dirty="0"/>
          </a:p>
        </p:txBody>
      </p:sp>
      <p:sp>
        <p:nvSpPr>
          <p:cNvPr id="3" name="AutoShape 8" descr="What Is FAISS (Facebook AI Similarity Search)? How Does It Work?">
            <a:extLst>
              <a:ext uri="{FF2B5EF4-FFF2-40B4-BE49-F238E27FC236}">
                <a16:creationId xmlns:a16="http://schemas.microsoft.com/office/drawing/2014/main" id="{83F6EA4E-5079-451D-5E15-86DF01B308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2E640A-3539-0C55-A0D8-CFEA5C25F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523024"/>
              </p:ext>
            </p:extLst>
          </p:nvPr>
        </p:nvGraphicFramePr>
        <p:xfrm>
          <a:off x="312251" y="1196280"/>
          <a:ext cx="8520599" cy="3466937"/>
        </p:xfrm>
        <a:graphic>
          <a:graphicData uri="http://schemas.openxmlformats.org/drawingml/2006/table">
            <a:tbl>
              <a:tblPr/>
              <a:tblGrid>
                <a:gridCol w="1973749">
                  <a:extLst>
                    <a:ext uri="{9D8B030D-6E8A-4147-A177-3AD203B41FA5}">
                      <a16:colId xmlns:a16="http://schemas.microsoft.com/office/drawing/2014/main" val="3819552990"/>
                    </a:ext>
                  </a:extLst>
                </a:gridCol>
                <a:gridCol w="1770185">
                  <a:extLst>
                    <a:ext uri="{9D8B030D-6E8A-4147-A177-3AD203B41FA5}">
                      <a16:colId xmlns:a16="http://schemas.microsoft.com/office/drawing/2014/main" val="2134310587"/>
                    </a:ext>
                  </a:extLst>
                </a:gridCol>
                <a:gridCol w="2344615">
                  <a:extLst>
                    <a:ext uri="{9D8B030D-6E8A-4147-A177-3AD203B41FA5}">
                      <a16:colId xmlns:a16="http://schemas.microsoft.com/office/drawing/2014/main" val="4127392275"/>
                    </a:ext>
                  </a:extLst>
                </a:gridCol>
                <a:gridCol w="2432050">
                  <a:extLst>
                    <a:ext uri="{9D8B030D-6E8A-4147-A177-3AD203B41FA5}">
                      <a16:colId xmlns:a16="http://schemas.microsoft.com/office/drawing/2014/main" val="4003438642"/>
                    </a:ext>
                  </a:extLst>
                </a:gridCol>
              </a:tblGrid>
              <a:tr h="73068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Version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410474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Novel Support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Single novel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novels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novels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801483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Chunking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Basic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Sentence-aware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overlap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409401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FAISS Index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IndexFlatL2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IndexIVFFlat</a:t>
                      </a:r>
                      <a:endParaRPr lang="en-US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IndexIVFFlat</a:t>
                      </a:r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tuning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521682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Retrieval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reranking</a:t>
                      </a:r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 reranking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 similarity reranking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647697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LLM Quality 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Raw Output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output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Literary analysis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874193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User Interface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Textbox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 interface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chat interface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80613"/>
                  </a:ext>
                </a:extLst>
              </a:tr>
              <a:tr h="390893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Performance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Slow (40-45s)</a:t>
                      </a:r>
                      <a:endParaRPr lang="my-MM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Medium(30-35s)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Optimized(6-20s)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5720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326D5-3C72-53FF-4E6B-CD9B64A09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sp>
        <p:nvSpPr>
          <p:cNvPr id="6" name="Google Shape;97;p18">
            <a:extLst>
              <a:ext uri="{FF2B5EF4-FFF2-40B4-BE49-F238E27FC236}">
                <a16:creationId xmlns:a16="http://schemas.microsoft.com/office/drawing/2014/main" id="{46A85EB6-707C-70A1-2B22-0FEC9D6A3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708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Evolution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73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02818A-0B7B-476F-B60B-E4404B44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Needed to Improve the System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F157A7-EC50-9EF4-F5D7-5EC14A722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658" y="1568222"/>
            <a:ext cx="3999900" cy="3302700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800" b="1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Problems in First Version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sentences appeared in generated output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or abruptly ending explanations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(only one novel)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sometimes returned weak or noisy context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+mn-cs"/>
                <a:sym typeface="Arial"/>
              </a:rPr>
              <a:t>High LLM hallucination risk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B72290-FD03-8E8C-D569-928C5A4103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63375" y="1596600"/>
            <a:ext cx="4580927" cy="3302700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800" b="1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Second Version Solutions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clean_generated_text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with sentence deduplication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sentence completion check and removed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imcompleted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sentences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per-novel FAISS indexes supporting 4 novels simultaneously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keyword-based reranking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rerank_chunks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strict prompt engineering with "</a:t>
            </a:r>
            <a:r>
              <a:rPr lang="my-MM" sz="1500" dirty="0">
                <a:latin typeface="Times New Roman" panose="02020603050405020304" pitchFamily="18" charset="0"/>
              </a:rPr>
              <a:t>ဝတ္ထုအတွင်း မတွေ့ပါ"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52713D-35A8-9B43-CE21-3AC5A5F74F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85113-38DB-DD95-83D4-42C1CC97F0AF}"/>
              </a:ext>
            </a:extLst>
          </p:cNvPr>
          <p:cNvSpPr txBox="1"/>
          <p:nvPr/>
        </p:nvSpPr>
        <p:spPr>
          <a:xfrm>
            <a:off x="572100" y="1168112"/>
            <a:ext cx="4307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From First Version to Second Version</a:t>
            </a:r>
          </a:p>
        </p:txBody>
      </p:sp>
    </p:spTree>
    <p:extLst>
      <p:ext uri="{BB962C8B-B14F-4D97-AF65-F5344CB8AC3E}">
        <p14:creationId xmlns:p14="http://schemas.microsoft.com/office/powerpoint/2010/main" val="362409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02818A-0B7B-476F-B60B-E4404B44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709458" cy="707400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Needed to Improve the System (Cont’d)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F157A7-EC50-9EF4-F5D7-5EC14A722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658" y="1568222"/>
            <a:ext cx="3999900" cy="3302700"/>
          </a:xfrm>
        </p:spPr>
        <p:txBody>
          <a:bodyPr/>
          <a:lstStyle/>
          <a:p>
            <a:pPr marL="1397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Second Version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 of Memory (OOM) Errors with Qwen2.5-7B (</a:t>
            </a:r>
            <a:r>
              <a:rPr lang="en-US" sz="1500" b="0" i="1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7B parameter model requires ~14GB VRAM. </a:t>
            </a:r>
            <a:r>
              <a:rPr lang="en-US" sz="1500" b="0" i="1" dirty="0" err="1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500" b="0" i="1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free T4 GPU only provides ~15GB VRAM, Model loading + embeddings exceeded memory limit</a:t>
            </a: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keyword reranking was inaccurate</a:t>
            </a:r>
            <a:endParaRPr lang="en-US" sz="1500" dirty="0">
              <a:solidFill>
                <a:srgbClr val="695D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response time tracking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Indexes rebuilt every session</a:t>
            </a:r>
            <a:endParaRPr lang="en-US" sz="1500" dirty="0">
              <a:solidFill>
                <a:srgbClr val="695D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hallucination control</a:t>
            </a:r>
            <a:endParaRPr lang="en-US" sz="1500" dirty="0">
              <a:solidFill>
                <a:srgbClr val="695D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B72290-FD03-8E8C-D569-928C5A4103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581889"/>
            <a:ext cx="3999900" cy="3302700"/>
          </a:xfrm>
        </p:spPr>
        <p:txBody>
          <a:bodyPr/>
          <a:lstStyle/>
          <a:p>
            <a:pPr marL="1397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Version Solutions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Switched to Gemma-3-27B-IT API (zero local GPU memory)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cosine similarity reranking with </a:t>
            </a:r>
            <a:r>
              <a:rPr lang="en-US" sz="1500" b="0" i="0" dirty="0" err="1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embeddings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real-time duration measurement for each query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persistent index storage system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prompt with strict semantic boundary rules</a:t>
            </a:r>
            <a:endParaRPr lang="en-US" sz="1500" dirty="0">
              <a:solidFill>
                <a:srgbClr val="695D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52713D-35A8-9B43-CE21-3AC5A5F74F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85113-38DB-DD95-83D4-42C1CC97F0AF}"/>
              </a:ext>
            </a:extLst>
          </p:cNvPr>
          <p:cNvSpPr txBox="1"/>
          <p:nvPr/>
        </p:nvSpPr>
        <p:spPr>
          <a:xfrm>
            <a:off x="596253" y="1152425"/>
            <a:ext cx="4993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From Second Version to Final Version</a:t>
            </a:r>
          </a:p>
        </p:txBody>
      </p:sp>
    </p:spTree>
    <p:extLst>
      <p:ext uri="{BB962C8B-B14F-4D97-AF65-F5344CB8AC3E}">
        <p14:creationId xmlns:p14="http://schemas.microsoft.com/office/powerpoint/2010/main" val="156142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1B4DB0-841B-9DE2-4602-D1DCAAFE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MyanLitBot’s</a:t>
            </a:r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F0A6F-8994-8E4A-3339-A5022D7356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7E8D06-B640-2A9E-FBCF-1538B21FC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18" y="1152425"/>
            <a:ext cx="7160963" cy="357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25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1B4DB0-841B-9DE2-4602-D1DCAAFE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F0A6F-8994-8E4A-3339-A5022D7356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FDEA3-7257-F03D-6E99-C3DC19F95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16" t="9194" r="13895" b="4232"/>
          <a:stretch/>
        </p:blipFill>
        <p:spPr>
          <a:xfrm>
            <a:off x="1106310" y="1191690"/>
            <a:ext cx="6931379" cy="369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7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1B4DB0-841B-9DE2-4602-D1DCAAFE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54C867-A0CA-9B44-02C6-8F6E39542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25"/>
            <a:ext cx="8520600" cy="33027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novel text from Google Drive.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extra line breaks.</a:t>
            </a:r>
            <a:endParaRPr lang="en-US" dirty="0">
              <a:solidFill>
                <a:srgbClr val="695D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 leading and trailing spaces.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text into sentences using punctuation</a:t>
            </a:r>
            <a:r>
              <a:rPr lang="en-US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y-MM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</a:rPr>
              <a:t>(။, !, ?)</a:t>
            </a:r>
            <a:r>
              <a:rPr lang="en-US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</a:rPr>
              <a:t>.</a:t>
            </a:r>
            <a:endParaRPr lang="en-US" dirty="0">
              <a:solidFill>
                <a:srgbClr val="695D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695D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text for chunking and embedding.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F0A6F-8994-8E4A-3339-A5022D7356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92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1B4DB0-841B-9DE2-4602-D1DCAAFE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  <a:endParaRPr lang="en-US"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54C867-A0CA-9B44-02C6-8F6E39542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25"/>
            <a:ext cx="8520600" cy="33027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Multi-Novel Isolated Indexing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Sentence Embeddings and Semantic Retrieval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Smart Semantic Clustering for Efficient Search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Dynamic Cluster Adjustment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Two-Stage Retrieval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Hallucination Control &amp; Human-Centric Prompts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Output Deduplication and Cleaning</a:t>
            </a:r>
            <a:endParaRPr lang="en-US" sz="1800" b="1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T Sans Narrow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b="1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T Sans Narrow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b="1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T Sans Narrow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F0A6F-8994-8E4A-3339-A5022D7356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60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79B441C-6E0B-B262-080D-F0B06888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Chunking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C422C-F694-8F49-5A3C-692E9E049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</p:spPr>
        <p:txBody>
          <a:bodyPr>
            <a:normAutofit lnSpcReduction="10000"/>
          </a:bodyPr>
          <a:lstStyle/>
          <a:p>
            <a:pPr marL="1397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Chunking?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Chunking is the process of breaking a long Burmese novel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meaningful sentence-level text units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the system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understand, search and retrieve context accurately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important?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Burmese sentence meaning.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loss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sentence overlap.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semantic search accuracy.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</a:t>
            </a:r>
            <a:r>
              <a:rPr lang="sv-S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LLM  responses.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FEE82-03B4-6137-4E1E-28532ADF23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298964"/>
            <a:ext cx="3999900" cy="3302700"/>
          </a:xfrm>
        </p:spPr>
        <p:txBody>
          <a:bodyPr>
            <a:normAutofit fontScale="92500"/>
          </a:bodyPr>
          <a:lstStyle/>
          <a:p>
            <a:pPr marL="13970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Chunking Works </a:t>
            </a:r>
          </a:p>
          <a:p>
            <a:pPr marL="1397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Burmese Text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</a:rPr>
              <a:t>“</a:t>
            </a:r>
            <a:r>
              <a:rPr lang="my-MM" dirty="0">
                <a:latin typeface="Times New Roman" panose="02020603050405020304" pitchFamily="18" charset="0"/>
              </a:rPr>
              <a:t>သူမသည်မနက်ခင်းအလင်းရောင်ကိုကြိုဆိုနေသည်။</a:t>
            </a:r>
            <a:r>
              <a:rPr lang="en-US" dirty="0">
                <a:latin typeface="Times New Roman" panose="02020603050405020304" pitchFamily="18" charset="0"/>
              </a:rPr>
              <a:t>…...</a:t>
            </a:r>
            <a:endParaRPr lang="my-MM" dirty="0">
              <a:latin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</a:rPr>
              <a:t>……..</a:t>
            </a:r>
            <a:r>
              <a:rPr lang="my-MM" dirty="0">
                <a:latin typeface="Times New Roman" panose="02020603050405020304" pitchFamily="18" charset="0"/>
              </a:rPr>
              <a:t>လေညင်းသံသည် စိတ်ကို အေးချမ်းစေသည်။သူ့ကို တွေ့သောအခါ နှလုံးသားက ထိတ်လန့်သွားသည်။</a:t>
            </a:r>
            <a:r>
              <a:rPr lang="en-US" dirty="0">
                <a:latin typeface="Times New Roman" panose="02020603050405020304" pitchFamily="18" charset="0"/>
              </a:rPr>
              <a:t>………”</a:t>
            </a:r>
            <a:endParaRPr lang="my-MM" dirty="0">
              <a:latin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Sentence-Aware Chunks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max_chars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500)</a:t>
            </a:r>
          </a:p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1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</a:rPr>
              <a:t>“</a:t>
            </a:r>
            <a:r>
              <a:rPr lang="my-MM" dirty="0">
                <a:latin typeface="Times New Roman" panose="02020603050405020304" pitchFamily="18" charset="0"/>
              </a:rPr>
              <a:t>သူမသည် မနက်ခင်းအလင်းရောင်ကို ကြိုဆိုနေသည်။</a:t>
            </a:r>
            <a:r>
              <a:rPr lang="en-US" dirty="0">
                <a:latin typeface="Times New Roman" panose="02020603050405020304" pitchFamily="18" charset="0"/>
              </a:rPr>
              <a:t> ……..</a:t>
            </a:r>
            <a:r>
              <a:rPr lang="my-MM" dirty="0">
                <a:latin typeface="Times New Roman" panose="02020603050405020304" pitchFamily="18" charset="0"/>
              </a:rPr>
              <a:t>လေညင်းသံသည် စိတ်ကို အေးချမ်းစေသည်။</a:t>
            </a:r>
            <a:r>
              <a:rPr lang="en-US" dirty="0">
                <a:latin typeface="Times New Roman" panose="02020603050405020304" pitchFamily="18" charset="0"/>
              </a:rPr>
              <a:t>”</a:t>
            </a:r>
            <a:endParaRPr lang="my-MM" dirty="0">
              <a:latin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2 (with overlap one sentence)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</a:rPr>
              <a:t>“</a:t>
            </a:r>
            <a:r>
              <a:rPr lang="my-MM" dirty="0">
                <a:latin typeface="Times New Roman" panose="02020603050405020304" pitchFamily="18" charset="0"/>
              </a:rPr>
              <a:t>လေညင်းသံသည် စိတ်ကို အေးချမ်းစေသည်။သူ့ကိုတွေ့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my-MM" dirty="0">
                <a:latin typeface="Times New Roman" panose="02020603050405020304" pitchFamily="18" charset="0"/>
              </a:rPr>
              <a:t>သော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my-MM" dirty="0">
                <a:latin typeface="Times New Roman" panose="02020603050405020304" pitchFamily="18" charset="0"/>
              </a:rPr>
              <a:t>အခါ နှလုံးသားက ထိတ်လန့်သွားသည်။</a:t>
            </a:r>
            <a:r>
              <a:rPr lang="en-US" dirty="0">
                <a:latin typeface="Times New Roman" panose="02020603050405020304" pitchFamily="18" charset="0"/>
              </a:rPr>
              <a:t>……”</a:t>
            </a:r>
            <a:endParaRPr lang="my-MM" dirty="0">
              <a:latin typeface="Times New Roman" panose="02020603050405020304" pitchFamily="18" charset="0"/>
            </a:endParaRPr>
          </a:p>
          <a:p>
            <a:pPr marL="1397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159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BBE-412D-4B30-579C-A3D619583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novel is processed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novel has: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FAISS vector index (.index)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sentence chunks file (.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are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to google drive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reused.</a:t>
            </a:r>
          </a:p>
          <a:p>
            <a:pPr marL="1397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Multi-Novel Isolation</a:t>
            </a:r>
          </a:p>
          <a:p>
            <a:pPr marL="139700" indent="0" algn="just">
              <a:buNone/>
            </a:pPr>
            <a:r>
              <a:rPr lang="my-MM" sz="1500" dirty="0">
                <a:latin typeface="Times New Roman" panose="02020603050405020304" pitchFamily="18" charset="0"/>
              </a:rPr>
              <a:t>အမှတ်တရ</a:t>
            </a:r>
            <a:r>
              <a:rPr lang="en-US" sz="1500" dirty="0">
                <a:latin typeface="Times New Roman" panose="02020603050405020304" pitchFamily="18" charset="0"/>
              </a:rPr>
              <a:t>:</a:t>
            </a:r>
            <a:r>
              <a:rPr lang="my-MM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AMhatTaYa.index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AMhatTaYa.pkl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my-MM" sz="1500" dirty="0">
                <a:latin typeface="Times New Roman" panose="02020603050405020304" pitchFamily="18" charset="0"/>
              </a:rPr>
              <a:t>သူလိုလူ</a:t>
            </a:r>
            <a:r>
              <a:rPr lang="en-US" sz="1500" dirty="0">
                <a:latin typeface="Times New Roman" panose="02020603050405020304" pitchFamily="18" charset="0"/>
              </a:rPr>
              <a:t>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ThuLoLu.index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+ 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ThuLoLu.pkl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Files</a:t>
            </a:r>
          </a:p>
          <a:p>
            <a:pPr marL="139700" indent="0" algn="just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.index → FAISS vectors (semantic space)</a:t>
            </a:r>
          </a:p>
          <a:p>
            <a:pPr marL="139700" indent="0" algn="just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Original Burmese sentence chunks</a:t>
            </a:r>
          </a:p>
          <a:p>
            <a:pPr marL="1397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86778C-5737-7712-8D40-B2DAEBD599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266175"/>
            <a:ext cx="3880676" cy="3302700"/>
          </a:xfrm>
        </p:spPr>
        <p:txBody>
          <a:bodyPr>
            <a:noAutofit/>
          </a:bodyPr>
          <a:lstStyle/>
          <a:p>
            <a:pPr marL="1397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System Restart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are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directly from google drive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re-chunking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re-embedding</a:t>
            </a:r>
          </a:p>
          <a:p>
            <a:pPr marL="1397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</a:t>
            </a:r>
          </a:p>
          <a:p>
            <a:pPr marL="139700" indent="0" algn="just">
              <a:buNone/>
            </a:pPr>
            <a:r>
              <a:rPr lang="en-US" sz="1500" dirty="0">
                <a:latin typeface="Times New Roman" panose="02020603050405020304" pitchFamily="18" charset="0"/>
              </a:rPr>
              <a:t>“</a:t>
            </a:r>
            <a:r>
              <a:rPr lang="my-MM" dirty="0">
                <a:latin typeface="Times New Roman" panose="02020603050405020304" pitchFamily="18" charset="0"/>
              </a:rPr>
              <a:t>မောင့်ကို စိတ်ထိခိုက်စေသော စကားက ဘာလဲ</a:t>
            </a:r>
            <a:r>
              <a:rPr lang="en-US" sz="1500" dirty="0">
                <a:latin typeface="Times New Roman" panose="02020603050405020304" pitchFamily="18" charset="0"/>
              </a:rPr>
              <a:t>”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runs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inside “</a:t>
            </a:r>
            <a:r>
              <a:rPr lang="en-US" sz="15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အမှတ်တရ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index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interference from other novels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F0A6F-8994-8E4A-3339-A5022D7356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AFAD1BED-323A-CA56-3D95-60E6E779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sz="33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Multi-Novel Isolated Indexing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</a:br>
            <a:endParaRPr lang="en-US" sz="32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26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6A1-9905-6612-FB62-DC72A38B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71" y="464733"/>
            <a:ext cx="8709458" cy="7074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Sentence Embeddings and Semantic Retrieval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sentence becomes a vector.</a:t>
            </a:r>
          </a:p>
          <a:p>
            <a:pPr marL="5715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"</a:t>
            </a:r>
            <a:r>
              <a:rPr lang="my-MM" dirty="0">
                <a:latin typeface="Times New Roman" panose="02020603050405020304" pitchFamily="18" charset="0"/>
              </a:rPr>
              <a:t>ဗိုလ်ချုပ်အောင်ဆန်းရဲ့အကြိုက်ဆုံးရုပ်ရှင်တွေပြောပါ “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it into a 768-dimensional vector.</a:t>
            </a:r>
          </a:p>
          <a:p>
            <a:pPr marL="5715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[0.12, -0.34, 0.87, ..., 0.05]  ← 768 numbers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number represents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hidden feature of meaning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emotion, action, context).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 with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meanings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vectors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together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768-dimensional space.</a:t>
            </a:r>
          </a:p>
          <a:p>
            <a:pPr marL="114300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retrieved chunk:</a:t>
            </a:r>
          </a:p>
          <a:p>
            <a:pPr marL="5715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“…</a:t>
            </a:r>
            <a:r>
              <a:rPr lang="my-MM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စစ်မဖြစ်မီက ရန်ကုန်တွင်ပြသွားသော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Wuthering Heights) (Rebecca) (Gone With the Wind) (Lady Hamilton) (Water Loo Bridge) (The Good Earth) (Suez) </a:t>
            </a:r>
            <a:r>
              <a:rPr lang="my-MM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စသည်တို့မှာ ဗိုလ်ချုပ်နှစ်သက်သောသော ရုပ်ရှင်အချို့ပင်တည်း။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…..”</a:t>
            </a:r>
          </a:p>
          <a:p>
            <a:pPr marL="114300" indent="0" algn="just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 words differ,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the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essence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271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6A1-9905-6612-FB62-DC72A38B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94" y="464733"/>
            <a:ext cx="9034006" cy="7074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3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4. Smart Semantic Clustering for Efficient Search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832300" cy="3302700"/>
          </a:xfrm>
        </p:spPr>
        <p:txBody>
          <a:bodyPr>
            <a:noAutofit/>
          </a:bodyPr>
          <a:lstStyle/>
          <a:p>
            <a:pPr marL="400050" indent="-285750" algn="just">
              <a:buFont typeface="Wingdings" panose="05000000000000000000" pitchFamily="2" charset="2"/>
              <a:buChar char="§"/>
            </a:pP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Groups similar meaning vectors into </a:t>
            </a:r>
            <a:r>
              <a:rPr lang="en-US" sz="1500" b="1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r>
              <a:rPr lang="en-US" sz="1500" b="0" i="0" dirty="0">
                <a:solidFill>
                  <a:srgbClr val="695D4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first.</a:t>
            </a:r>
          </a:p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: Love/Emotion</a:t>
            </a:r>
          </a:p>
          <a:p>
            <a:pPr marL="5715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ချစ်တယ်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5715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လွမ်းဆွတ်နေသည်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: Nature/Setting</a:t>
            </a:r>
          </a:p>
          <a:p>
            <a:pPr marL="5715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မိုးရွာနေသည်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5715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ပန်းပွင့်များ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 : Memories</a:t>
            </a:r>
          </a:p>
          <a:p>
            <a:pPr marL="5715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မှတ်မိသေးသည်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5715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ယခင်ကတုန်းက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4 : Daily Life</a:t>
            </a:r>
          </a:p>
          <a:p>
            <a:pPr marL="5969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</a:rPr>
              <a:t>ထမင်းစားသည်</a:t>
            </a:r>
            <a:r>
              <a:rPr lang="en-US" sz="1300" dirty="0">
                <a:latin typeface="Times New Roman" panose="02020603050405020304" pitchFamily="18" charset="0"/>
              </a:rPr>
              <a:t>…”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lvl="1" indent="0" algn="just">
              <a:buNone/>
            </a:pPr>
            <a:r>
              <a:rPr lang="en-US" sz="1300" dirty="0">
                <a:latin typeface="Times New Roman" panose="02020603050405020304" pitchFamily="18" charset="0"/>
              </a:rPr>
              <a:t>“</a:t>
            </a:r>
            <a:r>
              <a:rPr lang="my-MM" sz="1300" dirty="0">
                <a:latin typeface="Times New Roman" panose="02020603050405020304" pitchFamily="18" charset="0"/>
              </a:rPr>
              <a:t>အိပ်ရာထချိန်</a:t>
            </a:r>
            <a:r>
              <a:rPr lang="en-US" sz="1300" dirty="0">
                <a:latin typeface="Times New Roman" panose="02020603050405020304" pitchFamily="18" charset="0"/>
              </a:rPr>
              <a:t>…”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  <a:p>
            <a:pPr marL="571500" lvl="1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05D68-7A62-AFEC-F66C-53BDE591FE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831800" y="1317051"/>
            <a:ext cx="3912807" cy="3302000"/>
          </a:xfrm>
        </p:spPr>
        <p:txBody>
          <a:bodyPr>
            <a:normAutofit fontScale="85000" lnSpcReduction="20000"/>
          </a:bodyPr>
          <a:lstStyle/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Before searching for relevant chunks, this system dynamically decides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clusters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search based on the query complexity and corpus size.</a:t>
            </a:r>
          </a:p>
          <a:p>
            <a:pPr marL="13970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“</a:t>
            </a:r>
            <a:r>
              <a:rPr lang="my-MM" dirty="0">
                <a:latin typeface="Times New Roman" panose="02020603050405020304" pitchFamily="18" charset="0"/>
              </a:rPr>
              <a:t>အထီးကျန်ခြင်း</a:t>
            </a:r>
            <a:r>
              <a:rPr lang="en-US" dirty="0">
                <a:latin typeface="Times New Roman" panose="02020603050405020304" pitchFamily="18" charset="0"/>
              </a:rPr>
              <a:t>…</a:t>
            </a:r>
            <a:r>
              <a:rPr lang="en-US" b="1" dirty="0">
                <a:latin typeface="Times New Roman" panose="02020603050405020304" pitchFamily="18" charset="0"/>
              </a:rPr>
              <a:t>”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Vectorize → [0.2, -0.4, 0.7, ...]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Find nearest cluster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(Love/Emotion)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Compare ONLY with  vectors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all clusters)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Return best matches from Cluster 1:</a:t>
            </a:r>
          </a:p>
          <a:p>
            <a:pPr marL="1397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my-MM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လွမ်းဆွတ်နေသည်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</a:p>
          <a:p>
            <a:pPr marL="1397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314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6A1-9905-6612-FB62-DC72A38B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5. Dynamic Cluster Adjustment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nlist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 of clusters)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automatically calculated based on corpus size:</a:t>
            </a:r>
          </a:p>
          <a:p>
            <a:pPr marL="571500" lvl="1" indent="0" algn="just">
              <a:buNone/>
            </a:pP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nlist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max(10, min(100, 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(embeddings)//5))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under-clustering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small novels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over-clustering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 novels.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speed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accuracy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capped clusters ensure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memory-efficient training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Burmese Novels</a:t>
            </a:r>
          </a:p>
          <a:p>
            <a:pPr marL="571500" lvl="1" indent="0" algn="just">
              <a:buNone/>
            </a:pPr>
            <a:r>
              <a:rPr lang="my-MM" sz="1300" dirty="0">
                <a:latin typeface="Times New Roman" panose="02020603050405020304" pitchFamily="18" charset="0"/>
                <a:ea typeface="Open Sans" panose="020B0606030504020204" pitchFamily="34" charset="0"/>
              </a:rPr>
              <a:t>အမှတ်တရ </a:t>
            </a:r>
            <a:r>
              <a:rPr lang="en-US" sz="1300" dirty="0">
                <a:latin typeface="Times New Roman" panose="02020603050405020304" pitchFamily="18" charset="0"/>
                <a:ea typeface="Open Sans" panose="020B0606030504020204" pitchFamily="34" charset="0"/>
              </a:rPr>
              <a:t> </a:t>
            </a:r>
            <a:r>
              <a:rPr lang="my-MM" sz="1300" dirty="0">
                <a:latin typeface="Times New Roman" panose="02020603050405020304" pitchFamily="18" charset="0"/>
                <a:ea typeface="Open Sans" panose="020B0606030504020204" pitchFamily="34" charset="0"/>
              </a:rPr>
              <a:t>/</a:t>
            </a:r>
            <a:r>
              <a:rPr lang="en-US" sz="13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</a:t>
            </a:r>
            <a:r>
              <a:rPr lang="my-MM" sz="1300" dirty="0">
                <a:latin typeface="Times New Roman" panose="02020603050405020304" pitchFamily="18" charset="0"/>
                <a:ea typeface="Open Sans" panose="020B0606030504020204" pitchFamily="34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Mhat</a:t>
            </a:r>
            <a:r>
              <a:rPr lang="en-US" sz="13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Ta Ya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400 chunks →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clusters</a:t>
            </a:r>
          </a:p>
          <a:p>
            <a:pPr marL="571500" lvl="1" indent="0" algn="just">
              <a:buNone/>
            </a:pPr>
            <a:r>
              <a:rPr lang="my-MM" sz="1300" dirty="0">
                <a:latin typeface="Times New Roman" panose="02020603050405020304" pitchFamily="18" charset="0"/>
              </a:rPr>
              <a:t>သူလိုလူ /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Lo Lu → 3000 chunks →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clusters (capped)</a:t>
            </a:r>
          </a:p>
          <a:p>
            <a:pPr marL="11430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novels → fewer clusters → maintain semantic coherence.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novels → capped clusters → balance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speed, memory, and relevance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648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6A1-9905-6612-FB62-DC72A38B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6. Two-Stage Retrieval (Search + Re-Ranking)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Fast Retrieval (FAISS IVF)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→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embedding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IVF cluster search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retrieves relevant chunks.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chunks efficiently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pre-trained clusters.</a:t>
            </a:r>
          </a:p>
          <a:p>
            <a:pPr marL="114300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Precision Re-Ranking (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Cosine Similarity)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chunks →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as vectors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computed using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sklearn.metrics.pairwise.cosine_similarit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by semantic closeness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query.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chunks selected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ensures final result is most relevant.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322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6A1-9905-6612-FB62-DC72A38B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45025"/>
            <a:ext cx="9281187" cy="7074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8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7. Hallucination Control &amp; Human-Centric Prompts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266175"/>
            <a:ext cx="4260299" cy="33027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Hallucination?</a:t>
            </a:r>
          </a:p>
          <a:p>
            <a:pPr marL="114300" indent="0" algn="just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occurs when an AI model generates information that is not present in the source text, inventing characters, events, or details that do not exist in the original Burmese novel.</a:t>
            </a:r>
          </a:p>
          <a:p>
            <a:pPr marL="11430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important?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 false literary analysis.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 academic integrity and trustworthiness.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 faithful representation of the author's work.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against misinformation about Burmese literature.</a:t>
            </a:r>
          </a:p>
          <a:p>
            <a:pPr marL="11430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8B02-64F5-7A92-906C-122BA5FA05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0442" y="1266175"/>
            <a:ext cx="4156366" cy="3302700"/>
          </a:xfrm>
        </p:spPr>
        <p:txBody>
          <a:bodyPr>
            <a:normAutofit fontScale="85000" lnSpcReduction="20000"/>
          </a:bodyPr>
          <a:lstStyle/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Strict Hallucination Control Works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forbidden from using external knowledge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is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 only in retrieved novel passages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topic not found → returns a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“Not Found” response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Human-Centric Prompt Engineering Works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Burmese literary style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Merges multiple fragments into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cohesive paragraph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Disallows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chunk-level references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mechanical phrasing.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introductory and concluding filler text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9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6A1-9905-6612-FB62-DC72A38B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000" b="1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T Sans Narrow"/>
              </a:rPr>
              <a:t>8. Output Deduplication and Cleaning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sentences in the generated output are automatically removed.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semantic content is filtered to avoid redundancy.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sentences are discarded.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Abruptly ending sentences are removed.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Unwanted foreign characters are automatically removed.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clean, stable, publication-quality explanations.</a:t>
            </a:r>
          </a:p>
          <a:p>
            <a:pPr marL="11430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Generated output before cleaning:</a:t>
            </a:r>
          </a:p>
          <a:p>
            <a:pPr marL="114300" indent="0">
              <a:buNone/>
            </a:pPr>
            <a:r>
              <a:rPr lang="my-MM" sz="1500" dirty="0"/>
              <a:t>“ဗိုလ်ချုပ်အောင်ဆန်းသည် ရုပ်ရှင်များကို နှစ်သက်သည်။</a:t>
            </a:r>
            <a:r>
              <a:rPr lang="en-US" sz="1500" dirty="0"/>
              <a:t> </a:t>
            </a:r>
            <a:r>
              <a:rPr lang="my-MM" sz="1500" dirty="0"/>
              <a:t>ဗိုလ်ချုပ်အောင်ဆန်းသည် ရုပ်ရှင်များကို နှစ်သက်သည်။</a:t>
            </a:r>
            <a:r>
              <a:rPr lang="en-US" sz="1500" dirty="0"/>
              <a:t> </a:t>
            </a:r>
            <a:r>
              <a:rPr lang="my-MM" sz="1500" dirty="0"/>
              <a:t>စစ်မဖြစ်မီက ရန်ကုန်တွင် ပြသသော…”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after cleaning: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y-MM" sz="1500" dirty="0"/>
              <a:t>“ဗိုလ်ချုပ်အောင်ဆန်းသည် ရုပ်ရှင်များကို နှစ်သက်သည်။”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99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3C9B-C85A-F5E4-FBE6-9DFBBE78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 Strategy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6FB13-BF2B-BE0D-11BB-AD3EFA40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701968"/>
              </p:ext>
            </p:extLst>
          </p:nvPr>
        </p:nvGraphicFramePr>
        <p:xfrm>
          <a:off x="543442" y="1289751"/>
          <a:ext cx="8057116" cy="32208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5213">
                  <a:extLst>
                    <a:ext uri="{9D8B030D-6E8A-4147-A177-3AD203B41FA5}">
                      <a16:colId xmlns:a16="http://schemas.microsoft.com/office/drawing/2014/main" val="1357989780"/>
                    </a:ext>
                  </a:extLst>
                </a:gridCol>
                <a:gridCol w="2103345">
                  <a:extLst>
                    <a:ext uri="{9D8B030D-6E8A-4147-A177-3AD203B41FA5}">
                      <a16:colId xmlns:a16="http://schemas.microsoft.com/office/drawing/2014/main" val="3428075096"/>
                    </a:ext>
                  </a:extLst>
                </a:gridCol>
                <a:gridCol w="2014279">
                  <a:extLst>
                    <a:ext uri="{9D8B030D-6E8A-4147-A177-3AD203B41FA5}">
                      <a16:colId xmlns:a16="http://schemas.microsoft.com/office/drawing/2014/main" val="752756702"/>
                    </a:ext>
                  </a:extLst>
                </a:gridCol>
                <a:gridCol w="2014279">
                  <a:extLst>
                    <a:ext uri="{9D8B030D-6E8A-4147-A177-3AD203B41FA5}">
                      <a16:colId xmlns:a16="http://schemas.microsoft.com/office/drawing/2014/main" val="730268302"/>
                    </a:ext>
                  </a:extLst>
                </a:gridCol>
              </a:tblGrid>
              <a:tr h="66747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081797"/>
                  </a:ext>
                </a:extLst>
              </a:tr>
              <a:tr h="543792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Chunk unit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Character-based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Sentence-based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Sentence-based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0462"/>
                  </a:ext>
                </a:extLst>
              </a:tr>
              <a:tr h="73290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Overlap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 overlap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Sentence-level overlap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Sentence-level overlap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01732"/>
                  </a:ext>
                </a:extLst>
              </a:tr>
              <a:tr h="73290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break risk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Eliminated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16450"/>
                  </a:ext>
                </a:extLst>
              </a:tr>
              <a:tr h="543792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quality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285900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09768-F6D8-FDDB-D8A3-046A38796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728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3C9B-C85A-F5E4-FBE6-9DFBBE78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Strategy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6FB13-BF2B-BE0D-11BB-AD3EFA40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44912"/>
              </p:ext>
            </p:extLst>
          </p:nvPr>
        </p:nvGraphicFramePr>
        <p:xfrm>
          <a:off x="543442" y="1289751"/>
          <a:ext cx="8057116" cy="34901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5213">
                  <a:extLst>
                    <a:ext uri="{9D8B030D-6E8A-4147-A177-3AD203B41FA5}">
                      <a16:colId xmlns:a16="http://schemas.microsoft.com/office/drawing/2014/main" val="1357989780"/>
                    </a:ext>
                  </a:extLst>
                </a:gridCol>
                <a:gridCol w="2103345">
                  <a:extLst>
                    <a:ext uri="{9D8B030D-6E8A-4147-A177-3AD203B41FA5}">
                      <a16:colId xmlns:a16="http://schemas.microsoft.com/office/drawing/2014/main" val="3428075096"/>
                    </a:ext>
                  </a:extLst>
                </a:gridCol>
                <a:gridCol w="2014279">
                  <a:extLst>
                    <a:ext uri="{9D8B030D-6E8A-4147-A177-3AD203B41FA5}">
                      <a16:colId xmlns:a16="http://schemas.microsoft.com/office/drawing/2014/main" val="752756702"/>
                    </a:ext>
                  </a:extLst>
                </a:gridCol>
                <a:gridCol w="2014279">
                  <a:extLst>
                    <a:ext uri="{9D8B030D-6E8A-4147-A177-3AD203B41FA5}">
                      <a16:colId xmlns:a16="http://schemas.microsoft.com/office/drawing/2014/main" val="730268302"/>
                    </a:ext>
                  </a:extLst>
                </a:gridCol>
              </a:tblGrid>
              <a:tr h="66747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081797"/>
                  </a:ext>
                </a:extLst>
              </a:tr>
              <a:tr h="543792"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Embedding</a:t>
                      </a:r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LaBSE</a:t>
                      </a:r>
                      <a:endParaRPr lang="en-US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LaBSE</a:t>
                      </a:r>
                      <a:endParaRPr lang="en-US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LaBSE</a:t>
                      </a:r>
                      <a:endParaRPr lang="en-US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0462"/>
                  </a:ext>
                </a:extLst>
              </a:tr>
              <a:tr h="458444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FAISS index Type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IndexFlatL2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IndexIVFFlat</a:t>
                      </a:r>
                      <a:endParaRPr lang="en-US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IndexIVFFlat</a:t>
                      </a:r>
                      <a:endParaRPr lang="en-US" sz="15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01732"/>
                  </a:ext>
                </a:extLst>
              </a:tr>
              <a:tr h="73290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Method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Cluster-based Search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Cluster-based Search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16450"/>
                  </a:ext>
                </a:extLst>
              </a:tr>
              <a:tr h="543792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Reranking Method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 Similarity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285900"/>
                  </a:ext>
                </a:extLst>
              </a:tr>
              <a:tr h="543792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 Speed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389217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09768-F6D8-FDDB-D8A3-046A38796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28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&amp; Model Implementation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311700" y="991666"/>
            <a:ext cx="8520600" cy="37904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plemented an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Retrieval-Augmented Generation (RAG) system.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sentence-aware chunking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for Burmese literary text.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representation of Myanmar language.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FAISS-based semantic retrieval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IVF clustering for efficient context selection.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reranking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cosine similarity to improve topic relevance.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grounding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strict prompt rules to reduce hallucination.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multi-novel corpus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isolated indexes per novel.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cleaning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remove duplicate and incomplete sentences for academic quality.</a:t>
            </a:r>
            <a:endParaRPr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FA248-664B-40A9-39DD-FA9D9EB1D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658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3C9B-C85A-F5E4-FBE6-9DFBBE78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6FB13-BF2B-BE0D-11BB-AD3EFA40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046194"/>
              </p:ext>
            </p:extLst>
          </p:nvPr>
        </p:nvGraphicFramePr>
        <p:xfrm>
          <a:off x="543442" y="1661416"/>
          <a:ext cx="8057116" cy="24928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03519">
                  <a:extLst>
                    <a:ext uri="{9D8B030D-6E8A-4147-A177-3AD203B41FA5}">
                      <a16:colId xmlns:a16="http://schemas.microsoft.com/office/drawing/2014/main" val="1357989780"/>
                    </a:ext>
                  </a:extLst>
                </a:gridCol>
                <a:gridCol w="2446317">
                  <a:extLst>
                    <a:ext uri="{9D8B030D-6E8A-4147-A177-3AD203B41FA5}">
                      <a16:colId xmlns:a16="http://schemas.microsoft.com/office/drawing/2014/main" val="3428075096"/>
                    </a:ext>
                  </a:extLst>
                </a:gridCol>
                <a:gridCol w="1745673">
                  <a:extLst>
                    <a:ext uri="{9D8B030D-6E8A-4147-A177-3AD203B41FA5}">
                      <a16:colId xmlns:a16="http://schemas.microsoft.com/office/drawing/2014/main" val="752756702"/>
                    </a:ext>
                  </a:extLst>
                </a:gridCol>
                <a:gridCol w="1261607">
                  <a:extLst>
                    <a:ext uri="{9D8B030D-6E8A-4147-A177-3AD203B41FA5}">
                      <a16:colId xmlns:a16="http://schemas.microsoft.com/office/drawing/2014/main" val="730268302"/>
                    </a:ext>
                  </a:extLst>
                </a:gridCol>
              </a:tblGrid>
              <a:tr h="66747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Novel Title (Burmese)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Novel Title (English)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081797"/>
                  </a:ext>
                </a:extLst>
              </a:tr>
              <a:tr h="54379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အမှတ်တရ(ဂျူး)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Memories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Romance/Drama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[491]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0462"/>
                  </a:ext>
                </a:extLst>
              </a:tr>
              <a:tr h="45844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ဗိုလ်ချုပ်အောင်ဆန်း အတ္ထုပ္ပတ္တိ (သခင်ကိုယ်တော်မှိုင်း)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General Aung San’s Biography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Biography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[1846]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01732"/>
                  </a:ext>
                </a:extLst>
              </a:tr>
              <a:tr h="73290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ပြုံး၍လည်း ကန်တော့ခံတော်မူပါ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ရယ်၍လည်း ကန်တော့ခံတော်မူပါ (နုနုရည်အင်းဝ)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Smiling and Laughing in Reverence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Social Realism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[702]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16450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09768-F6D8-FDDB-D8A3-046A38796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27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85306-7AA9-6DBD-0A8C-4660BBFCED65}"/>
              </a:ext>
            </a:extLst>
          </p:cNvPr>
          <p:cNvSpPr txBox="1"/>
          <p:nvPr/>
        </p:nvSpPr>
        <p:spPr>
          <a:xfrm>
            <a:off x="412813" y="1152425"/>
            <a:ext cx="29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Corpus</a:t>
            </a:r>
          </a:p>
        </p:txBody>
      </p:sp>
    </p:spTree>
    <p:extLst>
      <p:ext uri="{BB962C8B-B14F-4D97-AF65-F5344CB8AC3E}">
        <p14:creationId xmlns:p14="http://schemas.microsoft.com/office/powerpoint/2010/main" val="1328348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3C9B-C85A-F5E4-FBE6-9DFBBE78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(Cont’d)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6FB13-BF2B-BE0D-11BB-AD3EFA40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18804"/>
              </p:ext>
            </p:extLst>
          </p:nvPr>
        </p:nvGraphicFramePr>
        <p:xfrm>
          <a:off x="523324" y="1659062"/>
          <a:ext cx="7949134" cy="29071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65103">
                  <a:extLst>
                    <a:ext uri="{9D8B030D-6E8A-4147-A177-3AD203B41FA5}">
                      <a16:colId xmlns:a16="http://schemas.microsoft.com/office/drawing/2014/main" val="1357989780"/>
                    </a:ext>
                  </a:extLst>
                </a:gridCol>
                <a:gridCol w="3174525">
                  <a:extLst>
                    <a:ext uri="{9D8B030D-6E8A-4147-A177-3AD203B41FA5}">
                      <a16:colId xmlns:a16="http://schemas.microsoft.com/office/drawing/2014/main" val="3428075096"/>
                    </a:ext>
                  </a:extLst>
                </a:gridCol>
                <a:gridCol w="1409506">
                  <a:extLst>
                    <a:ext uri="{9D8B030D-6E8A-4147-A177-3AD203B41FA5}">
                      <a16:colId xmlns:a16="http://schemas.microsoft.com/office/drawing/2014/main" val="752756702"/>
                    </a:ext>
                  </a:extLst>
                </a:gridCol>
              </a:tblGrid>
              <a:tr h="49658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Question (Burmese)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Translation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081797"/>
                  </a:ext>
                </a:extLst>
              </a:tr>
              <a:tr h="404570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ဇာတ်လိုက်၏ အဓိကစရိုက်လက္ခဏာက ဘာလဲ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What is the protagonist's main characteristic?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Character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0462"/>
                  </a:ext>
                </a:extLst>
              </a:tr>
              <a:tr h="362824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ဤဝတ္ထုတွင် အဓိကပဋိပက္ခကဘာလဲ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What is the main conflict in this novel?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Conflict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01732"/>
                  </a:ext>
                </a:extLst>
              </a:tr>
              <a:tr h="408587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အချစ်ကို ဘယ်လိုဖော်ပြသလဲ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How is love portrayed?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Theme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16450"/>
                  </a:ext>
                </a:extLst>
              </a:tr>
              <a:tr h="545269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ဝတ္ထုပါ နေရာဒေသကို မည်သို့ပုံဖော်ထားသနည်း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How is the setting described?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Setting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332812"/>
                  </a:ext>
                </a:extLst>
              </a:tr>
              <a:tr h="545269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my-MM" sz="13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စာရေးသူ၏ ရေးဟန်ထူးခြားချက်က ဘာလဲ</a:t>
                      </a:r>
                      <a:endParaRPr lang="en-US" sz="1300" b="0" i="0" u="none" strike="noStrike" cap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What is distinctive about the author's writing style?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Style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43954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09768-F6D8-FDDB-D8A3-046A38796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28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85306-7AA9-6DBD-0A8C-4660BBFCED65}"/>
              </a:ext>
            </a:extLst>
          </p:cNvPr>
          <p:cNvSpPr txBox="1"/>
          <p:nvPr/>
        </p:nvSpPr>
        <p:spPr>
          <a:xfrm>
            <a:off x="412813" y="1152425"/>
            <a:ext cx="29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Questions</a:t>
            </a:r>
          </a:p>
        </p:txBody>
      </p:sp>
    </p:spTree>
    <p:extLst>
      <p:ext uri="{BB962C8B-B14F-4D97-AF65-F5344CB8AC3E}">
        <p14:creationId xmlns:p14="http://schemas.microsoft.com/office/powerpoint/2010/main" val="2317010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3C9B-C85A-F5E4-FBE6-9DFBBE78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(Cont’d)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6FB13-BF2B-BE0D-11BB-AD3EFA40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579657"/>
              </p:ext>
            </p:extLst>
          </p:nvPr>
        </p:nvGraphicFramePr>
        <p:xfrm>
          <a:off x="311700" y="1659062"/>
          <a:ext cx="8520599" cy="29045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5645">
                  <a:extLst>
                    <a:ext uri="{9D8B030D-6E8A-4147-A177-3AD203B41FA5}">
                      <a16:colId xmlns:a16="http://schemas.microsoft.com/office/drawing/2014/main" val="1357989780"/>
                    </a:ext>
                  </a:extLst>
                </a:gridCol>
                <a:gridCol w="2147455">
                  <a:extLst>
                    <a:ext uri="{9D8B030D-6E8A-4147-A177-3AD203B41FA5}">
                      <a16:colId xmlns:a16="http://schemas.microsoft.com/office/drawing/2014/main" val="3428075096"/>
                    </a:ext>
                  </a:extLst>
                </a:gridCol>
                <a:gridCol w="2410691">
                  <a:extLst>
                    <a:ext uri="{9D8B030D-6E8A-4147-A177-3AD203B41FA5}">
                      <a16:colId xmlns:a16="http://schemas.microsoft.com/office/drawing/2014/main" val="752756702"/>
                    </a:ext>
                  </a:extLst>
                </a:gridCol>
                <a:gridCol w="2306808">
                  <a:extLst>
                    <a:ext uri="{9D8B030D-6E8A-4147-A177-3AD203B41FA5}">
                      <a16:colId xmlns:a16="http://schemas.microsoft.com/office/drawing/2014/main" val="983175662"/>
                    </a:ext>
                  </a:extLst>
                </a:gridCol>
              </a:tblGrid>
              <a:tr h="496584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Realism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081797"/>
                  </a:ext>
                </a:extLst>
              </a:tr>
              <a:tr h="40457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Retrieval Quality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Excellent at finding emotionally charged dialogue revealing inner turmoil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Highly precise factual retrieval of historical events and character traits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Very good at finding socially charged dialogue capturing identity conflicts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0462"/>
                  </a:ext>
                </a:extLst>
              </a:tr>
              <a:tr h="362824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Response Style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Warm, emotional language focusing on internal states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Formal, analytical tone examining historical significance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Dramatic, observational style analyzing social dynamics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01732"/>
                  </a:ext>
                </a:extLst>
              </a:tr>
              <a:tr h="40858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Faithfulness to Text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Stays close to intimate scenes and emotional dialogue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Accurately reflects historical details and character traits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Captures essence of social dynamics through direct characterization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16450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09768-F6D8-FDDB-D8A3-046A38796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85306-7AA9-6DBD-0A8C-4660BBFCED65}"/>
              </a:ext>
            </a:extLst>
          </p:cNvPr>
          <p:cNvSpPr txBox="1"/>
          <p:nvPr/>
        </p:nvSpPr>
        <p:spPr>
          <a:xfrm>
            <a:off x="311700" y="1138185"/>
            <a:ext cx="375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Summary Observations Table</a:t>
            </a:r>
          </a:p>
        </p:txBody>
      </p:sp>
    </p:spTree>
    <p:extLst>
      <p:ext uri="{BB962C8B-B14F-4D97-AF65-F5344CB8AC3E}">
        <p14:creationId xmlns:p14="http://schemas.microsoft.com/office/powerpoint/2010/main" val="1562216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33C9B-C85A-F5E4-FBE6-9DFBBE78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(Cont’d)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6FB13-BF2B-BE0D-11BB-AD3EFA40A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321620"/>
              </p:ext>
            </p:extLst>
          </p:nvPr>
        </p:nvGraphicFramePr>
        <p:xfrm>
          <a:off x="311700" y="1659062"/>
          <a:ext cx="8520599" cy="23161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5645">
                  <a:extLst>
                    <a:ext uri="{9D8B030D-6E8A-4147-A177-3AD203B41FA5}">
                      <a16:colId xmlns:a16="http://schemas.microsoft.com/office/drawing/2014/main" val="1357989780"/>
                    </a:ext>
                  </a:extLst>
                </a:gridCol>
                <a:gridCol w="1974034">
                  <a:extLst>
                    <a:ext uri="{9D8B030D-6E8A-4147-A177-3AD203B41FA5}">
                      <a16:colId xmlns:a16="http://schemas.microsoft.com/office/drawing/2014/main" val="3428075096"/>
                    </a:ext>
                  </a:extLst>
                </a:gridCol>
                <a:gridCol w="2584112">
                  <a:extLst>
                    <a:ext uri="{9D8B030D-6E8A-4147-A177-3AD203B41FA5}">
                      <a16:colId xmlns:a16="http://schemas.microsoft.com/office/drawing/2014/main" val="752756702"/>
                    </a:ext>
                  </a:extLst>
                </a:gridCol>
                <a:gridCol w="2306808">
                  <a:extLst>
                    <a:ext uri="{9D8B030D-6E8A-4147-A177-3AD203B41FA5}">
                      <a16:colId xmlns:a16="http://schemas.microsoft.com/office/drawing/2014/main" val="983175662"/>
                    </a:ext>
                  </a:extLst>
                </a:gridCol>
              </a:tblGrid>
              <a:tr h="496584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Realism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081797"/>
                  </a:ext>
                </a:extLst>
              </a:tr>
              <a:tr h="1103081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Strengths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Emotional depth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Character intimacy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Conflict analysis</a:t>
                      </a:r>
                    </a:p>
                    <a:p>
                      <a:pPr marL="285750" marR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Psychological insight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Factual accuracy</a:t>
                      </a:r>
                    </a:p>
                    <a:p>
                      <a:pPr marL="285750" marR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Period details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70462"/>
                  </a:ext>
                </a:extLst>
              </a:tr>
              <a:tr h="362824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Weaknesses/</a:t>
                      </a:r>
                    </a:p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May over-focus on romance , missing other plot points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May miss peaceful , reflective moments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Arial"/>
                        </a:rPr>
                        <a:t>Less emotional range; can feel slightly distant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01732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F909768-F6D8-FDDB-D8A3-046A38796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30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85306-7AA9-6DBD-0A8C-4660BBFCED65}"/>
              </a:ext>
            </a:extLst>
          </p:cNvPr>
          <p:cNvSpPr txBox="1"/>
          <p:nvPr/>
        </p:nvSpPr>
        <p:spPr>
          <a:xfrm>
            <a:off x="311700" y="1138185"/>
            <a:ext cx="375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Summary Observations Table</a:t>
            </a:r>
          </a:p>
        </p:txBody>
      </p:sp>
    </p:spTree>
    <p:extLst>
      <p:ext uri="{BB962C8B-B14F-4D97-AF65-F5344CB8AC3E}">
        <p14:creationId xmlns:p14="http://schemas.microsoft.com/office/powerpoint/2010/main" val="3528495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F5CD3F-8F2D-1383-4983-508974F06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723" y="1053063"/>
            <a:ext cx="4260299" cy="3645412"/>
          </a:xfrm>
        </p:spPr>
        <p:txBody>
          <a:bodyPr>
            <a:noAutofit/>
          </a:bodyPr>
          <a:lstStyle/>
          <a:p>
            <a:pPr marL="139700" indent="0" algn="just">
              <a:lnSpc>
                <a:spcPct val="12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Genre Adaptation</a:t>
            </a: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system successfully adapts to different literary genres.</a:t>
            </a: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Romance → Emotional and intimate tone</a:t>
            </a: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Biography → Analytical and factual style</a:t>
            </a: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Realism → Observational and socially focused interpretation</a:t>
            </a: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is driven by genre-specific retrieved chunks.</a:t>
            </a:r>
          </a:p>
          <a:p>
            <a:pPr marL="139700" indent="0" algn="just">
              <a:lnSpc>
                <a:spcPct val="1200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Strongest Retrieval Performance</a:t>
            </a:r>
          </a:p>
          <a:p>
            <a:pPr marL="139700" indent="0" algn="just">
              <a:lnSpc>
                <a:spcPct val="12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Biography </a:t>
            </a:r>
            <a:r>
              <a:rPr lang="en-US" sz="1200" dirty="0">
                <a:latin typeface="Myanmar Text" panose="020B0502040204020203" pitchFamily="34" charset="0"/>
                <a:cs typeface="Myanmar Text" panose="020B0502040204020203" pitchFamily="34" charset="0"/>
              </a:rPr>
              <a:t>(</a:t>
            </a:r>
            <a:r>
              <a:rPr lang="my-MM" sz="1200" dirty="0">
                <a:latin typeface="Myanmar Text" panose="020B0502040204020203" pitchFamily="34" charset="0"/>
                <a:cs typeface="Myanmar Text" panose="020B0502040204020203" pitchFamily="34" charset="0"/>
              </a:rPr>
              <a:t>ဗိုလ်ချုပ်အောင်ဆန်း အတ္ထုပ္ပတ္တိ)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highest retrieval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precision.Fact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content (names, dates, events) aligns strongly with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and cosine similarity search.</a:t>
            </a:r>
            <a:endParaRPr lang="en-US" sz="13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8B02-64F5-7A92-906C-122BA5FA05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0442" y="1110535"/>
            <a:ext cx="4430716" cy="3552682"/>
          </a:xfrm>
        </p:spPr>
        <p:txBody>
          <a:bodyPr>
            <a:noAutofit/>
          </a:bodyPr>
          <a:lstStyle/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Most Challenging Genre</a:t>
            </a:r>
          </a:p>
          <a:p>
            <a:pPr marL="13970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Romance </a:t>
            </a:r>
            <a:r>
              <a:rPr lang="en-US" sz="1200" dirty="0">
                <a:latin typeface="Myanmar Text" panose="020B0502040204020203" pitchFamily="34" charset="0"/>
                <a:cs typeface="Myanmar Text" panose="020B0502040204020203" pitchFamily="34" charset="0"/>
              </a:rPr>
              <a:t>(</a:t>
            </a:r>
            <a:r>
              <a:rPr lang="my-MM" sz="1200" dirty="0">
                <a:latin typeface="Myanmar Text" panose="020B0502040204020203" pitchFamily="34" charset="0"/>
                <a:cs typeface="Myanmar Text" panose="020B0502040204020203" pitchFamily="34" charset="0"/>
              </a:rPr>
              <a:t>အမှတ်တရ)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Social Realism </a:t>
            </a:r>
            <a:r>
              <a:rPr lang="en-US" sz="1200" dirty="0">
                <a:latin typeface="Myanmar Text" panose="020B0502040204020203" pitchFamily="34" charset="0"/>
                <a:cs typeface="Myanmar Text" panose="020B0502040204020203" pitchFamily="34" charset="0"/>
              </a:rPr>
              <a:t>(</a:t>
            </a:r>
            <a:r>
              <a:rPr lang="my-MM" sz="1200" dirty="0">
                <a:latin typeface="Myanmar Text" panose="020B0502040204020203" pitchFamily="34" charset="0"/>
                <a:cs typeface="Myanmar Text" panose="020B0502040204020203" pitchFamily="34" charset="0"/>
              </a:rPr>
              <a:t>ပြုံး၍လည်းကန်တော့ခံတော်မူပါ ရယ်၍လည်းကန်တော့ခံတော်မူပါ)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subtle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challenges.Risk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Over-focus on dominant emotional narrative when broader summaries are required.</a:t>
            </a:r>
          </a:p>
          <a:p>
            <a:pPr marL="139700" indent="0" algn="just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Effectiveness of Cosine Similarity</a:t>
            </a:r>
          </a:p>
          <a:p>
            <a:pPr marL="13970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Cosine similarity ranking works effectively across all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genres.Top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-ranked chunks consistently match query intent with high semantic relevance.</a:t>
            </a:r>
          </a:p>
          <a:p>
            <a:pPr marL="139700" indent="0" algn="just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Unexpected Insight</a:t>
            </a:r>
          </a:p>
          <a:p>
            <a:pPr marL="13970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The concept of “love” in the Biography was interpreted contextually (patriotism, admiration, friendship), not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romantically.This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strong contextual adaptation across genres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54FF-940B-453E-A811-23AD90DD2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31</a:t>
            </a:fld>
            <a:endParaRPr lang="en-GB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169CE20B-1153-2161-D181-9EBFAF00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</p:txBody>
      </p:sp>
    </p:spTree>
    <p:extLst>
      <p:ext uri="{BB962C8B-B14F-4D97-AF65-F5344CB8AC3E}">
        <p14:creationId xmlns:p14="http://schemas.microsoft.com/office/powerpoint/2010/main" val="3369097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9FD37-82BD-46AE-6EC4-F0DCAA238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62070"/>
            <a:ext cx="8520600" cy="3797947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currently supports a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Burmese novels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restricted by available digitized text resources.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accuracy depends on the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sentence chunking and embeddings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subtle literary nuances may still be missed.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Low-resource language constraints 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cause minor retrieval errors due to limited pre-training data for Burmese models.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literary analysis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does not yet support comparative or cross-novel reasoning.</a:t>
            </a:r>
          </a:p>
          <a:p>
            <a:pPr marL="114300" indent="0" algn="just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corpus to include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Burmese novels, short stories, and historical texts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diverse genres.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cross-novel and comparative literary analysis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or lightweight deployment options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more accessible user interface.</a:t>
            </a:r>
          </a:p>
          <a:p>
            <a:pPr marL="114300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FA248-664B-40A9-39DD-FA9D9EB1D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829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311700" y="39930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311700" y="1069525"/>
            <a:ext cx="8520600" cy="37904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effectively addresses the critical gap in digital resources for Burmese literature, offering a practical and accessible solution.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fast, accurate and context-aware system for exploring and analyzing novels, enhancing both academic and educational engagement.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semantic retrieval and AI-based interpretation enables meaningful and reliable literary analysis.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enhances access to Burmese literary resources, supporting research, education and cultural preservation.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demonstrates the potential of artificial intelligence to advance low-resource language studies and establishes a foundation for future research and system expansion.</a:t>
            </a:r>
            <a:endParaRPr sz="15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FA248-664B-40A9-39DD-FA9D9EB1D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780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311700" y="39930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rgbClr val="0B6E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dirty="0">
              <a:solidFill>
                <a:srgbClr val="0B6E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520600" cy="37904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Lewis, P., Perez, E.,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Piktus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Petroni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Karpukhin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V., Goyal, N.,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Küttler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Lewis, M.,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Yih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and Riedel, S. (2020) Retrieval-Augmented Generation for Knowledge-Intensive NLP Tasks. Advances in Neural Information Processing Systems (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2020).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Feng, F., Yang, Y.,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Arivazhagan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and Wang, W. (2022) Language-agnostic BERT Sentence Embedding. Transactions of the Association for Computational Linguistics, 10, pp. 56–72.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Johnson, J.,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Douze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Jégou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(2019) Billion-scale similarity search with GPUs. IEEE Transactions on Big Data, 7(3), pp. 535–547.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Pedregosa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et al. (2011) Scikit-learn: Machine Learning in Python. Journal of Machine Learning Research, 12, pp. 2825–2830.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Reimers, N. and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(2020) Making Sentence Embeddings Useful for Semantic Search. Proceedings of the 12th Language Resources and Evaluation Conference (LREC), pp. 43–49.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FA248-664B-40A9-39DD-FA9D9EB1D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005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2957</TotalTime>
  <Words>3661</Words>
  <Application>Microsoft Office PowerPoint</Application>
  <PresentationFormat>On-screen Show (16:9)</PresentationFormat>
  <Paragraphs>493</Paragraphs>
  <Slides>34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Open Sans</vt:lpstr>
      <vt:lpstr>Myanmar Text</vt:lpstr>
      <vt:lpstr>Times New Roman</vt:lpstr>
      <vt:lpstr>Wingdings</vt:lpstr>
      <vt:lpstr>Arial</vt:lpstr>
      <vt:lpstr>PT Sans Narrow</vt:lpstr>
      <vt:lpstr>Tropic</vt:lpstr>
      <vt:lpstr>PowerPoint Presentation</vt:lpstr>
      <vt:lpstr>Group Members</vt:lpstr>
      <vt:lpstr>Outline</vt:lpstr>
      <vt:lpstr>Abstract</vt:lpstr>
      <vt:lpstr>Introduction</vt:lpstr>
      <vt:lpstr>Objectives</vt:lpstr>
      <vt:lpstr>Burmese Novel Corpus</vt:lpstr>
      <vt:lpstr>System Tools &amp; Models</vt:lpstr>
      <vt:lpstr>System Evolution</vt:lpstr>
      <vt:lpstr>Why We Needed to Improve the System</vt:lpstr>
      <vt:lpstr>Why We Needed to Improve the System (Cont’d)</vt:lpstr>
      <vt:lpstr>MyanLitBot’s Architecture</vt:lpstr>
      <vt:lpstr>System Workflow</vt:lpstr>
      <vt:lpstr>Data Preprocessing</vt:lpstr>
      <vt:lpstr>Feature Engineering </vt:lpstr>
      <vt:lpstr>1. Chunking</vt:lpstr>
      <vt:lpstr>2. Multi-Novel Isolated Indexing </vt:lpstr>
      <vt:lpstr>3. Sentence Embeddings and Semantic Retrieval</vt:lpstr>
      <vt:lpstr>4. Smart Semantic Clustering for Efficient Search</vt:lpstr>
      <vt:lpstr>5. Dynamic Cluster Adjustment</vt:lpstr>
      <vt:lpstr>6. Two-Stage Retrieval (Search + Re-Ranking)</vt:lpstr>
      <vt:lpstr>7. Hallucination Control &amp; Human-Centric Prompts</vt:lpstr>
      <vt:lpstr>8. Output Deduplication and Cleaning</vt:lpstr>
      <vt:lpstr>Chunking Strategy</vt:lpstr>
      <vt:lpstr>Retrieval Strategy</vt:lpstr>
      <vt:lpstr>Contributions &amp; Model Implementation</vt:lpstr>
      <vt:lpstr>Evaluation</vt:lpstr>
      <vt:lpstr>Evaluation (Cont’d)</vt:lpstr>
      <vt:lpstr>Evaluation (Cont’d)</vt:lpstr>
      <vt:lpstr>Evaluation (Cont’d)</vt:lpstr>
      <vt:lpstr>Findings</vt:lpstr>
      <vt:lpstr>Limitations &amp; Future Work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THET</dc:creator>
  <cp:lastModifiedBy>Aye Aye Min San</cp:lastModifiedBy>
  <cp:revision>287</cp:revision>
  <dcterms:modified xsi:type="dcterms:W3CDTF">2026-04-06T06:16:19Z</dcterms:modified>
</cp:coreProperties>
</file>